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118872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A1A1A"/>
                </a:solidFill>
                <a:latin typeface="Courier New"/>
              </a:defRPr>
            </a:pPr>
            <a:r>
              <a:t>Vision-Based Road</a:t>
            </a:r>
            <a:br/>
            <a:r>
              <a:t>Drivable Region</a:t>
            </a:r>
            <a:br/>
            <a:r>
              <a:t>Estimation for Lane-Less</a:t>
            </a:r>
            <a:br/>
            <a:r>
              <a:t>Roads</a:t>
            </a:r>
          </a:p>
          <a:p>
            <a:pPr>
              <a:spcBef>
                <a:spcPts val="1400"/>
              </a:spcBef>
              <a:defRPr sz="1600" i="1">
                <a:solidFill>
                  <a:srgbClr val="2E6648"/>
                </a:solidFill>
                <a:latin typeface="Segoe UI"/>
              </a:defRPr>
            </a:pPr>
            <a:r>
              <a:t>with Adaptive Trust-Weighted Fusion Segmentation (ATWFS)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2976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6648"/>
                </a:solidFill>
                <a:latin typeface="Segoe UI"/>
              </a:defRPr>
            </a:pPr>
            <a:r>
              <a:t>BACSE324 · Embedded Systems Architecture</a:t>
            </a:r>
          </a:p>
          <a:p>
            <a:pPr>
              <a:spcBef>
                <a:spcPts val="400"/>
              </a:spcBef>
              <a:defRPr sz="1350">
                <a:solidFill>
                  <a:srgbClr val="262626"/>
                </a:solidFill>
                <a:latin typeface="Segoe UI"/>
              </a:defRPr>
            </a:pPr>
            <a:r>
              <a:t>Sunil Kumar  –  25BCE0388</a:t>
            </a:r>
          </a:p>
          <a:p>
            <a:pPr>
              <a:spcBef>
                <a:spcPts val="400"/>
              </a:spcBef>
              <a:defRPr sz="1350">
                <a:solidFill>
                  <a:srgbClr val="262626"/>
                </a:solidFill>
                <a:latin typeface="Segoe UI"/>
              </a:defRPr>
            </a:pPr>
            <a:r>
              <a:t>Varshith R S –  25BCE0351</a:t>
            </a:r>
          </a:p>
          <a:p>
            <a:pPr>
              <a:spcBef>
                <a:spcPts val="400"/>
              </a:spcBef>
              <a:defRPr sz="1350">
                <a:solidFill>
                  <a:srgbClr val="262626"/>
                </a:solidFill>
                <a:latin typeface="Segoe UI"/>
              </a:defRPr>
            </a:pPr>
            <a:r>
              <a:t>Suyash Gupta –  25BCE0371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Unstructured Road Topologies:</a:t>
            </a:r>
            <a:r>
              <a:rPr sz="1250">
                <a:solidFill>
                  <a:srgbClr val="262626"/>
                </a:solidFill>
                <a:latin typeface="Segoe UI"/>
              </a:rPr>
              <a:t> Lane-less rural and semi-urban roads lack demarcated painted lines, exhibiting irregular asphalt boundaries, earthen shoulders, and dirt transitions that cause conventional lane-tracking systems to fail.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Inference Disconnect in Deep Models:</a:t>
            </a:r>
            <a:r>
              <a:rPr sz="1250">
                <a:solidFill>
                  <a:srgbClr val="262626"/>
                </a:solidFill>
                <a:latin typeface="Segoe UI"/>
              </a:rPr>
              <a:t> Modern deep segmentation networks typically terminate at passive 2D probability masks or isolated steering angles without closed-loop kinematic coupling to vehicle dynamics.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OOD Fallibility &amp; Calibration Absence:</a:t>
            </a:r>
            <a:r>
              <a:rPr sz="1250">
                <a:solidFill>
                  <a:srgbClr val="262626"/>
                </a:solidFill>
                <a:latin typeface="Segoe UI"/>
              </a:rPr>
              <a:t> Off-the-shelf vision systems lack dynamic camera pitch/roll self-calibration and provide no fail-safe fallback mechanism when encountering out-of-distribution (OOD) visual anomalies.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Closed-Loop Monocular Objective:</a:t>
            </a:r>
            <a:r>
              <a:rPr sz="1250">
                <a:solidFill>
                  <a:srgbClr val="262626"/>
                </a:solidFill>
                <a:latin typeface="Segoe UI"/>
              </a:rPr>
              <a:t> Develop a camera-only, real-time edge architecture that concurrently delivers metric drivable space estimation, dynamic obstacle avoidance, and coupled speed/steering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474720" cy="86868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Camera Frame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Monocular RGB dashcam stream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10928" y="2423160"/>
            <a:ext cx="146304" cy="347472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770632"/>
            <a:ext cx="3474720" cy="86868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ATWFS Pipeline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Hybrid DL segmentation + Evidential trust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10928" y="3639312"/>
            <a:ext cx="146304" cy="347472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3986784"/>
            <a:ext cx="3474720" cy="86868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Drivable Mask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Metric free-space corridor &amp; obstacle gating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710928" y="4855464"/>
            <a:ext cx="146304" cy="347472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5202936"/>
            <a:ext cx="3474720" cy="86868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1B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Speed + Steering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Kinematically clamped control packet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A1A1A"/>
                </a:solidFill>
                <a:latin typeface="Segoe UI"/>
              </a:defRPr>
            </a:pPr>
            <a:r>
              <a:t>Existing Methods &amp; Paradigms: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Classical Computer Vision (Canny/Hough):</a:t>
            </a:r>
            <a:r>
              <a:rPr sz="1200">
                <a:solidFill>
                  <a:srgbClr val="262626"/>
                </a:solidFill>
                <a:latin typeface="Segoe UI"/>
              </a:rPr>
              <a:t> Highly compute-efficient for embedded systems, but fundamentally relies on high-contrast painted lane lines; collapses on broken tar, dirt roads, or mud.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Deep Semantic Segmentation (U-Net/SegNet):</a:t>
            </a:r>
            <a:r>
              <a:rPr sz="1200">
                <a:solidFill>
                  <a:srgbClr val="262626"/>
                </a:solidFill>
                <a:latin typeface="Segoe UI"/>
              </a:rPr>
              <a:t> Robust feature representation on complex road surfaces, but computationally heavy and typically outputs raw pixel masks without driving commands.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Direct Mask-to-Steering (Rasib et al., 2021):</a:t>
            </a:r>
            <a:r>
              <a:rPr sz="1200">
                <a:solidFill>
                  <a:srgbClr val="262626"/>
                </a:solidFill>
                <a:latin typeface="Segoe UI"/>
              </a:rPr>
              <a:t> Couples drivable masks to steering commands via geometric path extraction, but lacks uncertainty awareness and provides zero fallback when the network is blind.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Surface Normal Multi-Modal (SNE-RoadSegV2):</a:t>
            </a:r>
            <a:r>
              <a:rPr sz="1200">
                <a:solidFill>
                  <a:srgbClr val="262626"/>
                </a:solidFill>
                <a:latin typeface="Segoe UI"/>
              </a:rPr>
              <a:t> Introduces fallibility and surface-normal awareness, but strictly depends on costly LiDAR point clouds or calibrated stereo camera pairs.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474720" cy="86868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Classical CV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Fast edge/line detection; fragile to missing markings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10928" y="2423160"/>
            <a:ext cx="146304" cy="347472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770632"/>
            <a:ext cx="3474720" cy="86868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Deep Segmentation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High semantic accuracy; passive, uncalibrated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10928" y="3639312"/>
            <a:ext cx="146304" cy="347472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3986784"/>
            <a:ext cx="3474720" cy="86868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Mask + Steering Only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Geometric control derivation; lacks safety fallback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710928" y="4855464"/>
            <a:ext cx="146304" cy="347472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5202936"/>
            <a:ext cx="3474720" cy="86868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1B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ATWFS (Ours)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Monocular, self-calibrating, uncertainty-aware trust 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• Dynamic Pitch/Roll Vulnerability:</a:t>
            </a:r>
            <a:r>
              <a:rPr sz="1150">
                <a:solidFill>
                  <a:srgbClr val="262626"/>
                </a:solidFill>
                <a:latin typeface="Segoe UI"/>
              </a:rPr>
              <a:t> Vehicle motion over uneven terrain continuously alters camera orientation, distorting metric distance mapping when using fixed perspective calibration.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• Uncalibrated Model Confidence:</a:t>
            </a:r>
            <a:r>
              <a:rPr sz="1150">
                <a:solidFill>
                  <a:srgbClr val="262626"/>
                </a:solidFill>
                <a:latin typeface="Segoe UI"/>
              </a:rPr>
              <a:t> Standard neural networks suffer from overconfidence, producing erroneous predictions on out-of-distribution road domains without warning.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• Absence of Pre-Actuation Safety Verification:</a:t>
            </a:r>
            <a:r>
              <a:rPr sz="1150">
                <a:solidFill>
                  <a:srgbClr val="262626"/>
                </a:solidFill>
                <a:latin typeface="Segoe UI"/>
              </a:rPr>
              <a:t> Steering and throttle commands are frequently driven directly by unverified network outputs without geometric or temporal consistency safety checks.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• Prohibitive Multi-Sensor Hardware Costs:</a:t>
            </a:r>
            <a:r>
              <a:rPr sz="1150">
                <a:solidFill>
                  <a:srgbClr val="262626"/>
                </a:solidFill>
                <a:latin typeface="Segoe UI"/>
              </a:rPr>
              <a:t> High reliance on multi-beam LiDAR and stereo setups prevents practical adoption on low-cost edge vehicles.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• Extreme Environmental Fragility:</a:t>
            </a:r>
            <a:r>
              <a:rPr sz="1150">
                <a:solidFill>
                  <a:srgbClr val="262626"/>
                </a:solidFill>
                <a:latin typeface="Segoe UI"/>
              </a:rPr>
              <a:t> Off-the-shelf models trained on Western highways degrade severely on chaotic Indian roads featuring stray cattle, dust, glare, and irregular road edges.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554480"/>
            <a:ext cx="2011680" cy="91440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No calibration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Fixed camera height assumption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778240" y="1938528"/>
            <a:ext cx="36576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5440" y="1554480"/>
            <a:ext cx="2743200" cy="91440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IMU-based IPM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Self-calibrating pitch/roll homography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743200"/>
            <a:ext cx="2011680" cy="91440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No fallback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Blind neural trust on edge cases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78240" y="3127248"/>
            <a:ext cx="36576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2743200"/>
            <a:ext cx="2743200" cy="91440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Trust-weighted blend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Continuous Dirichlet evidential fusion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931920"/>
            <a:ext cx="2011680" cy="91440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No safety check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Unverified actuator commands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78240" y="4315968"/>
            <a:ext cx="36576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35440" y="3931920"/>
            <a:ext cx="2743200" cy="91440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Geometric &amp; temporal checks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Perspective validity &amp; optical flow gating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5120640"/>
            <a:ext cx="2011680" cy="91440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Costly sensors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Expensive LiDAR / stereo rigs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78240" y="5504688"/>
            <a:ext cx="36576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5120640"/>
            <a:ext cx="2743200" cy="91440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Monocular camera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Standard dashcam on low-cost edge CPU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9875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50">
                <a:solidFill>
                  <a:srgbClr val="111111"/>
                </a:solidFill>
                <a:latin typeface="Segoe UI"/>
              </a:rPr>
              <a:t>• 1. Sequential Monocular Input Stream:</a:t>
            </a:r>
            <a:r>
              <a:rPr sz="1300">
                <a:solidFill>
                  <a:srgbClr val="262626"/>
                </a:solidFill>
                <a:latin typeface="Segoe UI"/>
              </a:rPr>
              <a:t> Continuous video stream I_t in R^(H x W x 3) captured from an uncalibrated forward dashcam operating under uncontrolled lighting, shadow transitions, and camera vibrations.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11111"/>
                </a:solidFill>
                <a:latin typeface="Segoe UI"/>
              </a:rPr>
              <a:t>• 2. Multi-Task Output Tuple:</a:t>
            </a:r>
            <a:r>
              <a:rPr sz="1300">
                <a:solidFill>
                  <a:srgbClr val="262626"/>
                </a:solidFill>
                <a:latin typeface="Segoe UI"/>
              </a:rPr>
              <a:t> Concurrent prediction of binary drivable free-space mask M_t in {0, 1}^(H x W), closed-form evidential epistemic uncertainty U_t in (0, 1], and discrete surface classification C_terrain in {dry tar, wet/mud, gravel, waterlogged}.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11111"/>
                </a:solidFill>
                <a:latin typeface="Segoe UI"/>
              </a:rPr>
              <a:t>• 3. Dynamic In-Path Obstacle Subtraction:</a:t>
            </a:r>
            <a:r>
              <a:rPr sz="1300">
                <a:solidFill>
                  <a:srgbClr val="262626"/>
                </a:solidFill>
                <a:latin typeface="Segoe UI"/>
              </a:rPr>
              <a:t> Active identification and spatial subtraction of critical dynamic obstacles (pedestrians, vehicles, stray cattle) from the drivable corridor using safety-dilated bounding boxes.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11111"/>
                </a:solidFill>
                <a:latin typeface="Segoe UI"/>
              </a:rPr>
              <a:t>• 4. Coupled Speed &amp; Steering Kinematics:</a:t>
            </a:r>
            <a:r>
              <a:rPr sz="1300">
                <a:solidFill>
                  <a:srgbClr val="262626"/>
                </a:solidFill>
                <a:latin typeface="Segoe UI"/>
              </a:rPr>
              <a:t> Simultaneous computation of steering angle theta_t in [-30°, +30°] via pure pursuit trajectory tracking and target velocity v_t in [0.0, 1.5] m/s constrained by road width, curvature, and obstacle proximity.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11111"/>
                </a:solidFill>
                <a:latin typeface="Segoe UI"/>
              </a:rPr>
              <a:t>• 5. Trust-Mediated Dynamic Fallback:</a:t>
            </a:r>
            <a:r>
              <a:rPr sz="1300">
                <a:solidFill>
                  <a:srgbClr val="262626"/>
                </a:solidFill>
                <a:latin typeface="Segoe UI"/>
              </a:rPr>
              <a:t> Continuous, smooth transition to a deterministic classical color-space (HSV/Lab) and morphological flood-fill estimator whenever neural trust drops below safe operational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Self-Calibrating IPM from IMU Pitch/Roll:</a:t>
            </a:r>
            <a:r>
              <a:rPr sz="1200">
                <a:solidFill>
                  <a:srgbClr val="262626"/>
                </a:solidFill>
                <a:latin typeface="Segoe UI"/>
              </a:rPr>
              <a:t> Dynamically updates homography matrices using vehicle IMU telemetry and vanishing-point geometry to maintain an accurate metric Bird's-Eye-View (BEV) road grid (10 m x 25 m).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YOLOv8n Dynamic Obstacle Subtraction:</a:t>
            </a:r>
            <a:r>
              <a:rPr sz="1200">
                <a:solidFill>
                  <a:srgbClr val="262626"/>
                </a:solidFill>
                <a:latin typeface="Segoe UI"/>
              </a:rPr>
              <a:t> Lightweight single-pass detector detects pedestrians, oncoming traffic, and stray animals; dilates their contact footprints to subtract them from the drivable corridor.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Multi-Factor Trust Arbitration:</a:t>
            </a:r>
            <a:r>
              <a:rPr sz="1200">
                <a:solidFill>
                  <a:srgbClr val="262626"/>
                </a:solidFill>
                <a:latin typeface="Segoe UI"/>
              </a:rPr>
              <a:t> Combines deep learning segmentation with classical HSV/Lab color flood-fill based on evidential uncertainty, mask shape geometry, and temporal frame-to-frame continuity.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Coupled Speed and Steering Decision:</a:t>
            </a:r>
            <a:r>
              <a:rPr sz="1200">
                <a:solidFill>
                  <a:srgbClr val="262626"/>
                </a:solidFill>
                <a:latin typeface="Segoe UI"/>
              </a:rPr>
              <a:t> Jointly derives forward speed and steering angle, enforcing physical rate limits (5°/frame) and speed-dependent minimum turn radii (R_min = v^2 / a_lat).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Deterministic Telemetry Packet:</a:t>
            </a:r>
            <a:r>
              <a:rPr sz="1200">
                <a:solidFill>
                  <a:srgbClr val="262626"/>
                </a:solidFill>
                <a:latin typeface="Segoe UI"/>
              </a:rPr>
              <a:t> Generates a standardized 4-field control packet: [angle, speed, trust, obstacle_flag] transmitted over serial to low-level vehicle actuators.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08760"/>
            <a:ext cx="3474720" cy="73152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Camera + IMU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Synchronized monocular video &amp; 6-DOF inertial data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10928" y="2240280"/>
            <a:ext cx="146304" cy="219456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459736"/>
            <a:ext cx="3474720" cy="73152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Self-Calibrating IPM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Real-time pitch/roll homography projection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10928" y="3191256"/>
            <a:ext cx="146304" cy="219456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3410712"/>
            <a:ext cx="3474720" cy="73152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Geometric + Temporal Checks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Perspective narrowing &amp; flow consistency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710928" y="4142232"/>
            <a:ext cx="146304" cy="219456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4361688"/>
            <a:ext cx="3474720" cy="73152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ATWFS Trust Fusion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Multi-signal arbitration: DL vs. Classical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710928" y="5093208"/>
            <a:ext cx="146304" cy="219456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5312664"/>
            <a:ext cx="3474720" cy="73152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1B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Speed + Steering Packet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Safety-clamped kinematics to vehicle actuators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MobileNetV3-Large Encoder:</a:t>
            </a:r>
            <a:r>
              <a:rPr sz="1250">
                <a:solidFill>
                  <a:srgbClr val="262626"/>
                </a:solidFill>
                <a:latin typeface="Segoe UI"/>
              </a:rPr>
              <a:t> Employs depthwise separable convolutions, inverted bottleneck blocks, and squeeze-and-excitation (SE) modules for efficient visual feature extraction on low-power edge CPUs.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GroupNorm Stability Throughout:</a:t>
            </a:r>
            <a:r>
              <a:rPr sz="1250">
                <a:solidFill>
                  <a:srgbClr val="262626"/>
                </a:solidFill>
                <a:latin typeface="Segoe UI"/>
              </a:rPr>
              <a:t> Replaces standard BatchNorm2d with GroupNorm (8 groups per layer) throughout the network to eliminate batch-size dependency and ensure 100% deterministic inference across edge batch sizes.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Multi-Task U-Net Decoder:</a:t>
            </a:r>
            <a:r>
              <a:rPr sz="1250">
                <a:solidFill>
                  <a:srgbClr val="262626"/>
                </a:solidFill>
                <a:latin typeface="Segoe UI"/>
              </a:rPr>
              <a:t> Decodes multiscale stride-[32, 16, 8, 4] skip features to concurrently output binary drivable logits and Dirichlet evidential concentration parameters alpha = softplus(z) + 1.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Stride-8 Auxiliary Terrain Head:</a:t>
            </a:r>
            <a:r>
              <a:rPr sz="1250">
                <a:solidFill>
                  <a:srgbClr val="262626"/>
                </a:solidFill>
                <a:latin typeface="Segoe UI"/>
              </a:rPr>
              <a:t> Branches from intermediate encoder representations into a lightweight classification MLP predicting 4 surface types (dry tar, wet/mud, gravel, waterlogged) to inform traction control and speed derating.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08760"/>
            <a:ext cx="2743200" cy="77724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Input Image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288 x 512 x 3 RGB Frame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10928" y="2286000"/>
            <a:ext cx="146304" cy="228600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514600"/>
            <a:ext cx="3474720" cy="91440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MobileNetV3 Encoder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GroupNorm + Inverted Residuals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977639"/>
            <a:ext cx="1645920" cy="91440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U-Net Decoder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Skip Connections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05088" y="4892040"/>
            <a:ext cx="146304" cy="228600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0" y="5120640"/>
            <a:ext cx="1645920" cy="91440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Mask + Uncertainty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Logits &amp; Dirichlet alpha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3977639"/>
            <a:ext cx="1645920" cy="91440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Terrain Head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Stride-8 Features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0716768" y="4892040"/>
            <a:ext cx="146304" cy="228600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0" y="5120640"/>
            <a:ext cx="1645920" cy="91440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Terrain Type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4 Surface Classes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778240" y="3429000"/>
            <a:ext cx="128016" cy="502920"/>
          </a:xfrm>
          <a:prstGeom prst="down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0607040" y="3429000"/>
            <a:ext cx="128016" cy="502920"/>
          </a:xfrm>
          <a:prstGeom prst="down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ATWFS: Trust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• Multi-Signal Reliability Metric:</a:t>
            </a:r>
            <a:r>
              <a:rPr sz="1150">
                <a:solidFill>
                  <a:srgbClr val="262626"/>
                </a:solidFill>
                <a:latin typeface="Segoe UI"/>
              </a:rPr>
              <a:t> Evaluates network reliability using three independent signals: evidential uncertainty (U), geometric perspective validity (G), and temporal consistency (T).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• Adaptive MLP Weight Generation:</a:t>
            </a:r>
            <a:r>
              <a:rPr sz="1150">
                <a:solidFill>
                  <a:srgbClr val="262626"/>
                </a:solidFill>
                <a:latin typeface="Segoe UI"/>
              </a:rPr>
              <a:t> A lightweight neural fusion layer maps (U, G, T, P_terrain) to an optimal scalar blend factor alpha in [0, 1].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• Terrain-Aware Risk Derating:</a:t>
            </a:r>
            <a:r>
              <a:rPr sz="1150">
                <a:solidFill>
                  <a:srgbClr val="262626"/>
                </a:solidFill>
                <a:latin typeface="Segoe UI"/>
              </a:rPr>
              <a:t> Slippery or unpaved terrain categories penalize the trust score, demanding higher certainty before trusting the deep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3657600"/>
            <a:ext cx="6217920" cy="146304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E6648"/>
                </a:solidFill>
                <a:latin typeface="Consolas"/>
              </a:defRPr>
            </a:pPr>
            <a:r>
              <a:t>Z = 12.0 × [0.50(1 - U) + 0.25G + 0.25T - 0.75 - P_terrain]</a:t>
            </a:r>
          </a:p>
          <a:p>
            <a:pPr>
              <a:spcBef>
                <a:spcPts val="400"/>
              </a:spcBef>
              <a:defRPr sz="1200" b="1">
                <a:solidFill>
                  <a:srgbClr val="2E6648"/>
                </a:solidFill>
                <a:latin typeface="Consolas"/>
              </a:defRPr>
            </a:pPr>
            <a:r>
              <a:t>Trust (α) = (1 + e^-Z)^-1</a:t>
            </a:r>
          </a:p>
          <a:p>
            <a:pPr>
              <a:spcBef>
                <a:spcPts val="400"/>
              </a:spcBef>
              <a:defRPr sz="1150" b="1">
                <a:solidFill>
                  <a:srgbClr val="1A1A1A"/>
                </a:solidFill>
                <a:latin typeface="Consolas"/>
              </a:defRPr>
            </a:pPr>
            <a:r>
              <a:t>Final Mask = α · DL mask + (1 - α) · Classical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5303520"/>
            <a:ext cx="6217920" cy="82296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A1A1A"/>
                </a:solidFill>
                <a:latin typeface="Segoe UI"/>
              </a:defRPr>
            </a:pPr>
            <a:r>
              <a:t>Novelty: Learned, continuous blend — eliminates violent steering chatter and threshold oscillation.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554480"/>
            <a:ext cx="1737360" cy="64008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U: Uncertainty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Evidential Vacuity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601200" y="1801368"/>
            <a:ext cx="36576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0" y="2450592"/>
            <a:ext cx="1737360" cy="64008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G: Geometry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Perspective Trapezoid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1200" y="2697480"/>
            <a:ext cx="36576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3346704"/>
            <a:ext cx="1737360" cy="64008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T: Temporal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IoU Motion Continuity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01200" y="3593592"/>
            <a:ext cx="36576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4242816"/>
            <a:ext cx="1737360" cy="64008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Terrain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Friction Penalty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01200" y="4489704"/>
            <a:ext cx="36576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0" y="2560320"/>
            <a:ext cx="1645920" cy="109728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Trust Weight (α)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Sigmoid Fusion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808208" y="3657600"/>
            <a:ext cx="146304" cy="320040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0" y="4023360"/>
            <a:ext cx="2011680" cy="10058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1B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Final Mask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Fleshed Free-Space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Drivable Region with ATWFS</a:t>
            </a:r>
          </a:p>
        </p:txBody>
      </p:sp>
      <p:pic>
        <p:nvPicPr>
          <p:cNvPr id="5" name="Picture 4" descr="page_9_img_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463040"/>
            <a:ext cx="694944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50">
                <a:solidFill>
                  <a:srgbClr val="1A1A1A"/>
                </a:solidFill>
                <a:latin typeface="Segoe UI"/>
              </a:defRPr>
            </a:pPr>
            <a:r>
              <a:t>In-Cab HUD &amp; Actuation Breakdown: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11111"/>
                </a:solidFill>
                <a:latin typeface="Segoe UI"/>
              </a:rPr>
              <a:t>• Drivable Free-Space (Blue):</a:t>
            </a:r>
            <a:r>
              <a:rPr sz="1100">
                <a:solidFill>
                  <a:srgbClr val="262626"/>
                </a:solidFill>
                <a:latin typeface="Segoe UI"/>
              </a:rPr>
              <a:t> Fused high-resolution surface mask filtered for sub-pixel boundary smoothness and zero edge flutter.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11111"/>
                </a:solidFill>
                <a:latin typeface="Segoe UI"/>
              </a:rPr>
              <a:t>• Hermite Trajectory (Yellow):</a:t>
            </a:r>
            <a:r>
              <a:rPr sz="1100">
                <a:solidFill>
                  <a:srgbClr val="262626"/>
                </a:solidFill>
                <a:latin typeface="Segoe UI"/>
              </a:rPr>
              <a:t> S-curve spline anchored strictly to the ego bumper (0° launch) and converging to lane curvature at the horizon.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11111"/>
                </a:solidFill>
                <a:latin typeface="Segoe UI"/>
              </a:rPr>
              <a:t>• Seamless Arrowhead Alignment:</a:t>
            </a:r>
            <a:r>
              <a:rPr sz="1100">
                <a:solidFill>
                  <a:srgbClr val="262626"/>
                </a:solidFill>
                <a:latin typeface="Segoe UI"/>
              </a:rPr>
              <a:t> Polyline terminates strictly into the arrowhead notch with continuous tangent vector alignment.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11111"/>
                </a:solidFill>
                <a:latin typeface="Segoe UI"/>
              </a:rPr>
              <a:t>• Real-Time Telemetry Box:</a:t>
            </a:r>
            <a:r>
              <a:rPr sz="1100">
                <a:solidFill>
                  <a:srgbClr val="262626"/>
                </a:solidFill>
                <a:latin typeface="Segoe UI"/>
              </a:rPr>
              <a:t> Continuous display of active estimator (DL/Fallback), trust score (0.86), steering angle (-0.9°), road width (6.85 m), and 23.1 FPS throughput.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Computational Efficiency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34440" y="1508760"/>
          <a:ext cx="6583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b="1" sz="12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Teacher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Student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Inference time (ms/frame)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~110.8 ms/frame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6648"/>
                          </a:solidFill>
                          <a:latin typeface="Segoe UI"/>
                        </a:defRPr>
                      </a:pPr>
                      <a:r>
                        <a:t>~31.8 – 45.1 ms/frame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FLOPs (GFLOPs)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8.78 GFLOPs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6648"/>
                          </a:solidFill>
                          <a:latin typeface="Segoe UI"/>
                        </a:defRPr>
                      </a:pPr>
                      <a:r>
                        <a:t>3.23 GFLOPs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Parameters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4.59 Million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6648"/>
                          </a:solidFill>
                          <a:latin typeface="Segoe UI"/>
                        </a:defRPr>
                      </a:pPr>
                      <a:r>
                        <a:t>1.39 Million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Throughput (FPS)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9.0 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6648"/>
                          </a:solidFill>
                          <a:latin typeface="Segoe UI"/>
                        </a:defRPr>
                      </a:pPr>
                      <a:r>
                        <a:t>22.5 FPS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End-to-end latency (ms)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151.9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6648"/>
                          </a:solidFill>
                          <a:latin typeface="Segoe UI"/>
                        </a:defRPr>
                      </a:pPr>
                      <a:r>
                        <a:t>~44.4 ms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Peak memory (MB)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~1069.8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6648"/>
                          </a:solidFill>
                          <a:latin typeface="Segoe UI"/>
                        </a:defRPr>
                      </a:pPr>
                      <a:r>
                        <a:t>~893.4 MB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34440" y="553212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050">
                <a:solidFill>
                  <a:srgbClr val="262626"/>
                </a:solidFill>
                <a:latin typeface="Segoe UI"/>
              </a:defRPr>
            </a:pPr>
            <a:r>
              <a:t>* Benchmarks measured on standard commodity x86 laptop CPU (no discrete GPU).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08760"/>
            <a:ext cx="3566160" cy="384048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350">
                <a:solidFill>
                  <a:srgbClr val="1A1A1A"/>
                </a:solidFill>
                <a:latin typeface="Segoe UI"/>
              </a:defRPr>
            </a:pPr>
            <a:r>
              <a:t>Benchmark Setup &amp; Analysis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11111"/>
                </a:solidFill>
                <a:latin typeface="Segoe UI"/>
              </a:rPr>
              <a:t>• Teacher Model:</a:t>
            </a:r>
            <a:r>
              <a:rPr sz="1050">
                <a:solidFill>
                  <a:srgbClr val="262626"/>
                </a:solidFill>
                <a:latin typeface="Segoe UI"/>
              </a:rPr>
              <a:t> MobileNetV3-Large MultiTaskUNet backbone with GroupNorm.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11111"/>
                </a:solidFill>
                <a:latin typeface="Segoe UI"/>
              </a:rPr>
              <a:t>• Student Model:</a:t>
            </a:r>
            <a:r>
              <a:rPr sz="1050">
                <a:solidFill>
                  <a:srgbClr val="262626"/>
                </a:solidFill>
                <a:latin typeface="Segoe UI"/>
              </a:rPr>
              <a:t> MobileNetV3-Small MultiTaskUNet trained via knowledge distillation.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11111"/>
                </a:solidFill>
                <a:latin typeface="Segoe UI"/>
              </a:rPr>
              <a:t>• Input Resolution:</a:t>
            </a:r>
            <a:r>
              <a:rPr sz="1050">
                <a:solidFill>
                  <a:srgbClr val="262626"/>
                </a:solidFill>
                <a:latin typeface="Segoe UI"/>
              </a:rPr>
              <a:t> 288 × 512 pixels matching the native optical aspect ratio.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11111"/>
                </a:solidFill>
                <a:latin typeface="Segoe UI"/>
              </a:rPr>
              <a:t>• Hardware Envelope:</a:t>
            </a:r>
            <a:r>
              <a:rPr sz="1050">
                <a:solidFill>
                  <a:srgbClr val="262626"/>
                </a:solidFill>
                <a:latin typeface="Segoe UI"/>
              </a:rPr>
              <a:t> Standard low-to-medium tier laptop CPU (Intel Core i5).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11111"/>
                </a:solidFill>
                <a:latin typeface="Segoe UI"/>
              </a:rPr>
              <a:t>• 2.5x Speedup:</a:t>
            </a:r>
            <a:r>
              <a:rPr sz="1050">
                <a:solidFill>
                  <a:srgbClr val="262626"/>
                </a:solidFill>
                <a:latin typeface="Segoe UI"/>
              </a:rPr>
              <a:t> Student achieves 22.5 FPS real-time throughput on edge hardware.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11111"/>
                </a:solidFill>
                <a:latin typeface="Segoe UI"/>
              </a:rPr>
              <a:t>• 3.3x Compression:</a:t>
            </a:r>
            <a:r>
              <a:rPr sz="1050">
                <a:solidFill>
                  <a:srgbClr val="262626"/>
                </a:solidFill>
                <a:latin typeface="Segoe UI"/>
              </a:rPr>
              <a:t> Memory footprint reduced from 52 MB to 16 MB checkpoint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Dataset and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Benchmark Corpus (IDD 20k Part I):</a:t>
            </a:r>
            <a:r>
              <a:rPr sz="1200">
                <a:solidFill>
                  <a:srgbClr val="262626"/>
                </a:solidFill>
                <a:latin typeface="Segoe UI"/>
              </a:rPr>
              <a:t> Utilizes 10,003 unconstrained Indian road scenes capturing unstructured road edges, ambiguous margins, and heterogeneous traffic patterns.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Standardized Partitioning:</a:t>
            </a:r>
            <a:r>
              <a:rPr sz="1200">
                <a:solidFill>
                  <a:srgbClr val="262626"/>
                </a:solidFill>
                <a:latin typeface="Segoe UI"/>
              </a:rPr>
              <a:t> Formally split into 6,993 training, 981 validation, and 2,029 testing images for reproducible benchmarking.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Semantic Class Collapse:</a:t>
            </a:r>
            <a:r>
              <a:rPr sz="1200">
                <a:solidFill>
                  <a:srgbClr val="262626"/>
                </a:solidFill>
                <a:latin typeface="Segoe UI"/>
              </a:rPr>
              <a:t> Aggregates fine-grained 41 semantic classes into binary free-space (level3Ids {0, 1} -&gt; drivable, all valid obstacles -&gt; non-drivable, 255 ignored).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Custom Edge-Case Collection:</a:t>
            </a:r>
            <a:r>
              <a:rPr sz="1200">
                <a:solidFill>
                  <a:srgbClr val="262626"/>
                </a:solidFill>
                <a:latin typeface="Segoe UI"/>
              </a:rPr>
              <a:t> Augmented with custom dashcam footage annotated in CVAT covering low-light night driving, muddy unpaved roads, and stray cattle.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11111"/>
                </a:solidFill>
                <a:latin typeface="Segoe UI"/>
              </a:rPr>
              <a:t>• Independent Test Verification:</a:t>
            </a:r>
            <a:r>
              <a:rPr sz="1200">
                <a:solidFill>
                  <a:srgbClr val="262626"/>
                </a:solidFill>
                <a:latin typeface="Segoe UI"/>
              </a:rPr>
              <a:t> Evaluated on an isolated held-out test split ensuring strict zero data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554480"/>
            <a:ext cx="2011680" cy="77724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IDD Images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10,003 Scenes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9829800" y="1869948"/>
            <a:ext cx="27432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1554480"/>
            <a:ext cx="2011680" cy="77724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Binary Masks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Collapsed 41-&gt;2</a:t>
            </a:r>
          </a:p>
        </p:txBody>
      </p:sp>
      <p:sp>
        <p:nvSpPr>
          <p:cNvPr id="9" name="Down Arrow 8"/>
          <p:cNvSpPr/>
          <p:nvPr/>
        </p:nvSpPr>
        <p:spPr>
          <a:xfrm>
            <a:off x="10991088" y="2331720"/>
            <a:ext cx="146304" cy="365760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0" y="2697480"/>
            <a:ext cx="2011680" cy="77724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Train Teacher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MobileNetV3-Large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840480"/>
            <a:ext cx="2011680" cy="77724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Own Data (CVAT)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Night, Terrain, Cattle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829800" y="4155948"/>
            <a:ext cx="274320" cy="146304"/>
          </a:xfrm>
          <a:prstGeom prst="right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0" y="3840480"/>
            <a:ext cx="2011680" cy="77724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Fine-Tune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Domain Adaptation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991088" y="4617720"/>
            <a:ext cx="146304" cy="365760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0" y="4983480"/>
            <a:ext cx="2011680" cy="7772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1B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Held-Out Test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Unbiased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263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  <a:latin typeface="Courier New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Progress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Completed Milestones:
</a:t>
            </a:r>
            <a:r>
              <a:rPr sz="1200">
                <a:solidFill>
                  <a:srgbClr val="262626"/>
                </a:solidFill>
                <a:latin typeface="Segoe UI"/>
              </a:rPr>
              <a:t> End-to-end inference pipeline architecture with automated per-stage timing and regression smoke tests. Integrated YOLOv8n dynamic obstacle detection with dilated corridor subtraction and coupled steering/velocity decision logic. Self-calibrating IPM with IMU telemetry and dynamic horizon tracking.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Current Limitations:
</a:t>
            </a:r>
            <a:r>
              <a:rPr sz="1200">
                <a:solidFill>
                  <a:srgbClr val="262626"/>
                </a:solidFill>
                <a:latin typeface="Segoe UI"/>
              </a:rPr>
              <a:t> FusionNet operates on calibrated heuristic priors pending full multi-condition terrain annotation. Evidential uncertainty calibration requires expanded out-of-distribution validation across severe monsoon weather.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11111"/>
                </a:solidFill>
                <a:latin typeface="Segoe UI"/>
              </a:rPr>
              <a:t>• Strategic Next Steps:
</a:t>
            </a:r>
            <a:r>
              <a:rPr sz="1200">
                <a:solidFill>
                  <a:srgbClr val="262626"/>
                </a:solidFill>
                <a:latin typeface="Segoe UI"/>
              </a:rPr>
              <a:t> Distributed GPU knowledge distillation from Teacher to Student (T=2.0). Post-training INT8 quantization and structured pruning for ultra-low latency edge deployment. Physical vehicle hardware-in-the-loop (HIL) microcontroller demonstration.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08760"/>
            <a:ext cx="3474720" cy="73152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Data Preparation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Dataset curation &amp; binary mask generation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9710928" y="2240280"/>
            <a:ext cx="146304" cy="219456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459736"/>
            <a:ext cx="3474720" cy="73152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Train Teacher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MobileNetV3-Large baseline model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10928" y="3191256"/>
            <a:ext cx="146304" cy="219456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3410712"/>
            <a:ext cx="3474720" cy="731520"/>
          </a:xfrm>
          <a:prstGeom prst="roundRect">
            <a:avLst/>
          </a:prstGeom>
          <a:solidFill>
            <a:srgbClr val="FAF6EB"/>
          </a:solidFill>
          <a:ln w="19050">
            <a:solidFill>
              <a:srgbClr val="B88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Train FusionNet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Multi-signal trust fusion optimization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710928" y="4142232"/>
            <a:ext cx="146304" cy="219456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4361688"/>
            <a:ext cx="3474720" cy="731520"/>
          </a:xfrm>
          <a:prstGeom prst="roundRect">
            <a:avLst/>
          </a:prstGeom>
          <a:solidFill>
            <a:srgbClr val="F4F9F5"/>
          </a:solidFill>
          <a:ln w="19050">
            <a:solidFill>
              <a:srgbClr val="2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Distill + Compress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Student distillation &amp; INT8 quantization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710928" y="5093208"/>
            <a:ext cx="146304" cy="219456"/>
          </a:xfrm>
          <a:prstGeom prst="downArrow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5312664"/>
            <a:ext cx="3474720" cy="73152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1B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Hardware Demo</a:t>
            </a:r>
          </a:p>
          <a:p>
            <a:pPr algn="ctr">
              <a:defRPr sz="1050">
                <a:solidFill>
                  <a:srgbClr val="262626"/>
                </a:solidFill>
                <a:latin typeface="Segoe UI"/>
              </a:defRPr>
            </a:pPr>
            <a:r>
              <a:t>Embedded vehicle deployment &amp;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ourier New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50876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1. </a:t>
            </a:r>
            <a:r>
              <a:rPr sz="1150">
                <a:solidFill>
                  <a:srgbClr val="262626"/>
                </a:solidFill>
                <a:latin typeface="Segoe UI"/>
              </a:rPr>
              <a:t>Varma, G., Subramanian, A., Namboodiri, V., Chandraker, M., &amp; Jawahar, C. V. (2019). IDD: A Dataset for Exploring Problems of Autonomous Navigation in Unconstrained Environments. In </a:t>
            </a:r>
            <a:r>
              <a:rPr sz="1150" i="1">
                <a:solidFill>
                  <a:srgbClr val="2E6648"/>
                </a:solidFill>
                <a:latin typeface="Segoe UI"/>
              </a:rPr>
              <a:t>IEEE Winter Conference on Applications of Computer Vision (WACV)</a:t>
            </a:r>
            <a:r>
              <a:rPr sz="1150">
                <a:solidFill>
                  <a:srgbClr val="262626"/>
                </a:solidFill>
                <a:latin typeface="Segoe UI"/>
              </a:rPr>
              <a:t>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2. </a:t>
            </a:r>
            <a:r>
              <a:rPr sz="1150">
                <a:solidFill>
                  <a:srgbClr val="262626"/>
                </a:solidFill>
                <a:latin typeface="Segoe UI"/>
              </a:rPr>
              <a:t>Howard, A., Sandler, M., Chu, G., Chen, L. C., Chen, B., Tan, M., Wang, W., Zhu, Y., Pang, R., Vasudevan, V., Le, Q. V., &amp; Adam, H. (2019). Searching for MobileNetV3. In </a:t>
            </a:r>
            <a:r>
              <a:rPr sz="1150" i="1">
                <a:solidFill>
                  <a:srgbClr val="2E6648"/>
                </a:solidFill>
                <a:latin typeface="Segoe UI"/>
              </a:rPr>
              <a:t>IEEE/CVF International Conference on Computer Vision (ICCV)</a:t>
            </a:r>
            <a:r>
              <a:rPr sz="1150">
                <a:solidFill>
                  <a:srgbClr val="262626"/>
                </a:solidFill>
                <a:latin typeface="Segoe UI"/>
              </a:rPr>
              <a:t>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3. </a:t>
            </a:r>
            <a:r>
              <a:rPr sz="1150">
                <a:solidFill>
                  <a:srgbClr val="262626"/>
                </a:solidFill>
                <a:latin typeface="Segoe UI"/>
              </a:rPr>
              <a:t>Ronneberger, O., Fischer, P., &amp; Brox, T. (2015). U-Net: Convolutional Networks for Biomedical Image Segmentation. In </a:t>
            </a:r>
            <a:r>
              <a:rPr sz="1150" i="1">
                <a:solidFill>
                  <a:srgbClr val="2E6648"/>
                </a:solidFill>
                <a:latin typeface="Segoe UI"/>
              </a:rPr>
              <a:t>Medical Image Computing and Computer-Assisted Intervention (MICCAI)</a:t>
            </a:r>
            <a:r>
              <a:rPr sz="1150">
                <a:solidFill>
                  <a:srgbClr val="262626"/>
                </a:solidFill>
                <a:latin typeface="Segoe UI"/>
              </a:rPr>
              <a:t>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4. </a:t>
            </a:r>
            <a:r>
              <a:rPr sz="1150">
                <a:solidFill>
                  <a:srgbClr val="262626"/>
                </a:solidFill>
                <a:latin typeface="Segoe UI"/>
              </a:rPr>
              <a:t>Sensoy, M., Kaplan, L., &amp; Kandemir, M. (2018). Evidential Deep Learning to Quantify Classification Uncertainty. In </a:t>
            </a:r>
            <a:r>
              <a:rPr sz="1150" i="1">
                <a:solidFill>
                  <a:srgbClr val="2E6648"/>
                </a:solidFill>
                <a:latin typeface="Segoe UI"/>
              </a:rPr>
              <a:t>Advances in Neural Information Processing Systems (NeurIPS)</a:t>
            </a:r>
            <a:r>
              <a:rPr sz="1150">
                <a:solidFill>
                  <a:srgbClr val="262626"/>
                </a:solidFill>
                <a:latin typeface="Segoe UI"/>
              </a:rPr>
              <a:t>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11111"/>
                </a:solidFill>
                <a:latin typeface="Segoe UI"/>
              </a:rPr>
              <a:t>5. </a:t>
            </a:r>
            <a:r>
              <a:rPr sz="1150">
                <a:solidFill>
                  <a:srgbClr val="262626"/>
                </a:solidFill>
                <a:latin typeface="Segoe UI"/>
              </a:rPr>
              <a:t>Rasib, M. N., Javid, M. A., &amp; Kim, D. (2021). Drivable road region detection and steering angle estimation for autonomous driving in unstructured environments. </a:t>
            </a:r>
            <a:r>
              <a:rPr sz="1150" i="1">
                <a:solidFill>
                  <a:srgbClr val="2E6648"/>
                </a:solidFill>
                <a:latin typeface="Segoe UI"/>
              </a:rPr>
              <a:t>IEEE Access</a:t>
            </a:r>
            <a:r>
              <a:rPr sz="1150">
                <a:solidFill>
                  <a:srgbClr val="262626"/>
                </a:solidFill>
                <a:latin typeface="Segoe UI"/>
              </a:rPr>
              <a:t>, 9, 154210–154222.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0" y="201168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  <a:latin typeface="Courier New"/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1800" i="1">
                <a:solidFill>
                  <a:srgbClr val="2E6648"/>
                </a:solidFill>
                <a:latin typeface="Segoe UI"/>
              </a:defRPr>
            </a:pPr>
            <a:r>
              <a:t>Questions &amp; Technical Discussion</a:t>
            </a:r>
          </a:p>
          <a:p>
            <a:pPr algn="ctr">
              <a:spcBef>
                <a:spcPts val="2400"/>
              </a:spcBef>
              <a:defRPr b="1" sz="1400">
                <a:solidFill>
                  <a:srgbClr val="262626"/>
                </a:solidFill>
                <a:latin typeface="Segoe UI"/>
              </a:defRPr>
            </a:pPr>
            <a:r>
              <a:t>BACSE324 · Embedded Systems Architecture</a:t>
            </a:r>
          </a:p>
          <a:p>
            <a:pPr algn="ctr">
              <a:spcBef>
                <a:spcPts val="600"/>
              </a:spcBef>
              <a:defRPr sz="1250">
                <a:solidFill>
                  <a:srgbClr val="111111"/>
                </a:solidFill>
                <a:latin typeface="Segoe UI"/>
              </a:defRPr>
            </a:pPr>
            <a:r>
              <a:t>Sunil Kumar (25BCE0388)   |   Varshith R S (25BCE0351)   |   Suyash Gupta (25BCE0371)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